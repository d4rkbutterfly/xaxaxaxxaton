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7" r:id="rId7"/>
    <p:sldId id="275" r:id="rId8"/>
    <p:sldId id="262" r:id="rId9"/>
    <p:sldId id="263" r:id="rId10"/>
    <p:sldId id="264" r:id="rId11"/>
    <p:sldId id="265" r:id="rId12"/>
    <p:sldId id="266" r:id="rId13"/>
    <p:sldId id="27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B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9A8D3-9133-495A-90E4-510E85F70046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5CAF3-2367-4B79-A2AD-B02E4A8A2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70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Обложка: название проекта, ценность в одном предложении, команда и участники.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095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Демо и итог: что покажете, главная мысль, ссылки и контакты.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8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EFF2C-1D46-8541-0D43-4385FB883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12D51B-2F0D-A99B-5F38-76D8434AE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16864-E939-7F6A-A190-09C99D7C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B8C9AA-7418-5687-088C-FE3E57737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CE9888-9A41-B857-3911-1E0D2D1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54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5AF3E-3225-BE78-C6D7-B7FA0280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932F00-7DE5-D84A-457B-9B744565C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60B8B7-9682-C8A7-5D3D-3F2D3A95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D64A8B-E3B4-44D1-F235-5E3E58C91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0903BC-D972-921C-3C21-1443D75B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31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66FA8-6D4C-18CA-7A85-361C4B74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26882D-7899-4512-6E83-C59CD9F13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1C1E9F-B380-3D13-9931-CC3C811F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0867BD-CF13-5F35-A284-ABAF28FDA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6A302-4CB9-7EFD-B25E-ECBA26BB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992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3D106-4E0A-78E3-D8B3-8111B5C3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EE8A8-4389-569C-7AF5-784975402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5CF07C-00D7-1378-3734-3D5CDB977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7491B3-B377-0664-2F94-16458761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A97D92-C906-380E-FA5F-89840572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4D6E4A-CA09-6111-306A-EFF7C842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06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8F598-9207-DCB9-98F2-6A83A9D2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E8FC4C-8142-6B5A-C249-6F63D27D8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BE2B49-7EC4-0BAE-7567-2387CDC33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48A638-C7AF-58BC-2706-08E569FE6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9CB487B-96E5-ADA1-A630-736C25419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8888D4C-2EEC-3C54-A4C5-CC267243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D3922D-ECC2-76FC-C9CF-157F60C5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7CE304-B11D-37D4-D2E0-9228C7EF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69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248D6-E58A-A336-6E37-406E1B03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DA04A5-07A8-FB9A-D33B-6756B9C6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4D5597F-1C4C-73F2-EE2B-6599ACDF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6F6BF8-C8B0-F635-7B9E-E501A95A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94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9F815B7-71C7-716F-BC57-F10D4BEA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CC2580-A118-FED6-8D59-9A51D028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3A8B37-42D8-FB95-8055-8F01237B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39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55BB9-C585-B1B3-FAAD-F1C392DA4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FD1221-E949-32C5-BD46-46428DDD8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07E860-3C41-7D61-D284-86828037E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D149D0-9631-4104-5774-3C238CCF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100467-6485-47AF-3738-899A59C3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17B646-9C73-2EDF-1386-5374DEC2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03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AC73E-9AA4-5E3C-C8BB-6E249C18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A8D462F-1D90-7BFD-259A-F923A8C0A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CC0673-1ACA-772B-ADA3-87CFBD705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8E3B6-B4BE-24C9-CEC9-1B0184079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FC3169-30D6-2EDF-0606-3E13F7BC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9E2952-9C94-28D8-847F-9E002D37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44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89D4C-AB99-62BC-935E-BC1D275B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3DD839-155B-B911-325D-2DED8AD99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4EAA17-3994-1680-FA41-3F40608D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8B43C4-EEB3-25AE-5228-1CEECE70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4024FF-746E-EE68-DDCD-B3741195D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14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66F2471-E3E5-9F49-70E6-DD3B55443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2A94FA-7266-042D-B099-457789559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366FE6-1DD2-209E-8BF7-DA63890A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FFC09C-19A9-A23D-94F0-61CE4EC93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49F6B1-859E-B603-138F-55D2769A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74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7C67B-483F-B23E-DC03-6542A4CE5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859953-DC69-04D9-6F2B-1D2E62D91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844DD5-192B-D619-DCFC-D36774774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F1428-0112-4656-84D6-4CBDE499E06D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F71294-505F-E065-6EEF-440CED9CF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9E8E3-0A1B-268A-C728-F0F2E4B4E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FD45C-FA36-45FA-B9DF-3881582AA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38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shade val="30000"/>
                  <a:satMod val="115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 txBox="1"/>
          <p:nvPr/>
        </p:nvSpPr>
        <p:spPr>
          <a:xfrm>
            <a:off x="609600" y="1625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250" dirty="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/>
          <p:nvPr/>
        </p:nvSpPr>
        <p:spPr>
          <a:xfrm>
            <a:off x="609600" y="1930400"/>
            <a:ext cx="3810000" cy="3556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 txBox="1"/>
          <p:nvPr/>
        </p:nvSpPr>
        <p:spPr>
          <a:xfrm>
            <a:off x="812800" y="19939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Arial" panose="020B0604020202020204" pitchFamily="34" charset="0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 txBox="1"/>
          <p:nvPr/>
        </p:nvSpPr>
        <p:spPr>
          <a:xfrm>
            <a:off x="609600" y="2946400"/>
            <a:ext cx="99568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200" dirty="0">
                <a:solidFill>
                  <a:srgbClr val="FFFFFF"/>
                </a:solidFill>
                <a:latin typeface="Arial Black" panose="020B0A04020102020204" pitchFamily="34" charset="0"/>
              </a:rPr>
              <a:t>[</a:t>
            </a:r>
            <a:r>
              <a:rPr lang="ru-RU" sz="3200" dirty="0">
                <a:solidFill>
                  <a:schemeClr val="bg2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ФОРМИРОВАНИЕ СТРУКТУРИРОВАННОГО ОПИСАНИЯ ЗАКАЗА ПО АУДИОЗАПИСИ</a:t>
            </a:r>
            <a:r>
              <a:rPr lang="ru-RU" sz="3200" dirty="0">
                <a:solidFill>
                  <a:srgbClr val="FFFFFF"/>
                </a:solidFill>
                <a:latin typeface="Arial Black" panose="020B0A04020102020204" pitchFamily="34" charset="0"/>
              </a:rPr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 txBox="1"/>
          <p:nvPr/>
        </p:nvSpPr>
        <p:spPr>
          <a:xfrm>
            <a:off x="609600" y="4203700"/>
            <a:ext cx="9119616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[</a:t>
            </a:r>
            <a:r>
              <a:rPr lang="ru-RU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Превращаем аудиозапись звонка в готовый заказ — без ручного ввода и ошибок]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F9118C-15BA-1E8B-1E0A-45868046F99C}"/>
              </a:ext>
            </a:extLst>
          </p:cNvPr>
          <p:cNvSpPr txBox="1"/>
          <p:nvPr/>
        </p:nvSpPr>
        <p:spPr>
          <a:xfrm>
            <a:off x="609600" y="5414772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1BE7A-32D5-3014-AC78-9EADA83AF651}"/>
              </a:ext>
            </a:extLst>
          </p:cNvPr>
          <p:cNvSpPr txBox="1"/>
          <p:nvPr/>
        </p:nvSpPr>
        <p:spPr>
          <a:xfrm>
            <a:off x="609600" y="5653786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[Рыбка в мышке]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64D589-E2BB-51D1-B6F4-D7B45B50523D}"/>
              </a:ext>
            </a:extLst>
          </p:cNvPr>
          <p:cNvSpPr txBox="1"/>
          <p:nvPr/>
        </p:nvSpPr>
        <p:spPr>
          <a:xfrm>
            <a:off x="4064000" y="53721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УЧАСТНИКИ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 txBox="1"/>
          <p:nvPr/>
        </p:nvSpPr>
        <p:spPr>
          <a:xfrm>
            <a:off x="4064000" y="5648072"/>
            <a:ext cx="7112000" cy="3324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dirty="0">
                <a:solidFill>
                  <a:srgbClr val="FFFFFF"/>
                </a:solidFill>
                <a:latin typeface="Arial" panose="020B0604020202020204" pitchFamily="34" charset="0"/>
              </a:rPr>
              <a:t>[Васильева Светлана] · [Денисов Владислав] · [Куксенко Илья]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C688F3-3A01-7D3D-4D1C-10A741D8271F}"/>
              </a:ext>
            </a:extLst>
          </p:cNvPr>
          <p:cNvCxnSpPr/>
          <p:nvPr/>
        </p:nvCxnSpPr>
        <p:spPr>
          <a:xfrm>
            <a:off x="609600" y="60706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F0B3926-B1BC-713C-B406-97E6CEE1A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34748"/>
            <a:ext cx="10045700" cy="104635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AC1690-41B6-D897-E9DD-E0BCC24F36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0030080" y="1272160"/>
            <a:ext cx="1557400" cy="14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857D1E-DC40-7DFD-04D5-7FBDABCE1C40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77F24-8468-43E6-24D8-1C8915388518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02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8F58EA-0310-C872-E9AF-0A84F44A4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089E6-E57B-B220-0828-FBFAD7021678}"/>
              </a:ext>
            </a:extLst>
          </p:cNvPr>
          <p:cNvSpPr txBox="1"/>
          <p:nvPr/>
        </p:nvSpPr>
        <p:spPr>
          <a:xfrm>
            <a:off x="4670677" y="419100"/>
            <a:ext cx="28506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Команда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 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Рисунок 9" descr="IMG_20251124_183030.jpg">
            <a:extLst>
              <a:ext uri="{FF2B5EF4-FFF2-40B4-BE49-F238E27FC236}">
                <a16:creationId xmlns:a16="http://schemas.microsoft.com/office/drawing/2014/main" id="{AAF57579-35AD-038C-877C-6CFD2D9450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33" t="14266" r="36722" b="45200"/>
          <a:stretch>
            <a:fillRect/>
          </a:stretch>
        </p:blipFill>
        <p:spPr>
          <a:xfrm>
            <a:off x="609600" y="1801368"/>
            <a:ext cx="2941509" cy="301403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AD0D404-7F1C-B3A2-048F-5D03450780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28083" b="44711"/>
          <a:stretch>
            <a:fillRect/>
          </a:stretch>
        </p:blipFill>
        <p:spPr>
          <a:xfrm>
            <a:off x="8640891" y="1801368"/>
            <a:ext cx="2941509" cy="301403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0ACF503-C9CE-E194-2553-326EBD0F61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150" t="2535" r="24598" b="9568"/>
          <a:stretch>
            <a:fillRect/>
          </a:stretch>
        </p:blipFill>
        <p:spPr>
          <a:xfrm>
            <a:off x="4625245" y="1801368"/>
            <a:ext cx="2941509" cy="3014038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7763B38-E655-0D81-B204-39BB6BEE0605}"/>
              </a:ext>
            </a:extLst>
          </p:cNvPr>
          <p:cNvSpPr/>
          <p:nvPr/>
        </p:nvSpPr>
        <p:spPr>
          <a:xfrm>
            <a:off x="609600" y="5413248"/>
            <a:ext cx="2941509" cy="69552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BBF0CAA5-51DB-5EBE-C31B-0688AB546D5A}"/>
              </a:ext>
            </a:extLst>
          </p:cNvPr>
          <p:cNvSpPr/>
          <p:nvPr/>
        </p:nvSpPr>
        <p:spPr>
          <a:xfrm>
            <a:off x="4625245" y="5413248"/>
            <a:ext cx="2941509" cy="69552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51716E4C-2C51-2609-2FEF-E4D521792639}"/>
              </a:ext>
            </a:extLst>
          </p:cNvPr>
          <p:cNvSpPr/>
          <p:nvPr/>
        </p:nvSpPr>
        <p:spPr>
          <a:xfrm>
            <a:off x="8640890" y="5413248"/>
            <a:ext cx="2941509" cy="69552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48E284DF-1E40-282D-121D-EAC027FA9792}"/>
              </a:ext>
            </a:extLst>
          </p:cNvPr>
          <p:cNvSpPr txBox="1"/>
          <p:nvPr/>
        </p:nvSpPr>
        <p:spPr>
          <a:xfrm>
            <a:off x="1468776" y="5530179"/>
            <a:ext cx="122315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Илья Куксенко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4770D4-E1F8-FDCD-EAD6-5763005D4B8F}"/>
              </a:ext>
            </a:extLst>
          </p:cNvPr>
          <p:cNvSpPr txBox="1"/>
          <p:nvPr/>
        </p:nvSpPr>
        <p:spPr>
          <a:xfrm>
            <a:off x="5040223" y="5761011"/>
            <a:ext cx="211155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ru-RU" sz="15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Lead</a:t>
            </a:r>
            <a:r>
              <a:rPr lang="ru-RU" sz="15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Дизайнер</a:t>
            </a:r>
            <a:endParaRPr lang="ru-RU" sz="15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23459383-AFF4-DADC-A252-170020878D36}"/>
              </a:ext>
            </a:extLst>
          </p:cNvPr>
          <p:cNvSpPr txBox="1"/>
          <p:nvPr/>
        </p:nvSpPr>
        <p:spPr>
          <a:xfrm>
            <a:off x="5261315" y="5519094"/>
            <a:ext cx="166936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Светлана Васильева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51FD87-4E4A-87DF-7427-18AE0F5C1D8F}"/>
              </a:ext>
            </a:extLst>
          </p:cNvPr>
          <p:cNvSpPr txBox="1"/>
          <p:nvPr/>
        </p:nvSpPr>
        <p:spPr>
          <a:xfrm>
            <a:off x="8920912" y="5761011"/>
            <a:ext cx="24781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Аналитик, исследователь</a:t>
            </a:r>
            <a:endParaRPr lang="ru-RU" sz="15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40C1C720-E647-A0A1-E3F1-56DB66385E77}"/>
              </a:ext>
            </a:extLst>
          </p:cNvPr>
          <p:cNvSpPr txBox="1"/>
          <p:nvPr/>
        </p:nvSpPr>
        <p:spPr>
          <a:xfrm>
            <a:off x="9285905" y="5519094"/>
            <a:ext cx="165147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Владислав Денисов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FFB891-DF97-3593-0A80-72D34CB94AC8}"/>
              </a:ext>
            </a:extLst>
          </p:cNvPr>
          <p:cNvSpPr txBox="1"/>
          <p:nvPr/>
        </p:nvSpPr>
        <p:spPr>
          <a:xfrm>
            <a:off x="1061021" y="5761011"/>
            <a:ext cx="20386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Разработчик, бэкенд</a:t>
            </a:r>
            <a:endParaRPr lang="ru-RU" sz="15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413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8131C-FA71-FFCC-EF64-A936C3692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000AF6-D103-C535-E341-543D29388C84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B8E19-1227-954C-5C6A-FAA61F2AC45E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</a:t>
            </a:r>
            <a:r>
              <a:rPr lang="en-US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3</a:t>
            </a:r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36030D-F987-2FD9-B6E4-C2681C5CE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4B482C-A974-C835-49CA-80F22465FC75}"/>
              </a:ext>
            </a:extLst>
          </p:cNvPr>
          <p:cNvSpPr txBox="1"/>
          <p:nvPr/>
        </p:nvSpPr>
        <p:spPr>
          <a:xfrm>
            <a:off x="4526850" y="508000"/>
            <a:ext cx="31382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Проблема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 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26CF242-166D-F502-1FFA-0B2BA9477C4C}"/>
              </a:ext>
            </a:extLst>
          </p:cNvPr>
          <p:cNvSpPr/>
          <p:nvPr/>
        </p:nvSpPr>
        <p:spPr>
          <a:xfrm>
            <a:off x="609600" y="1496490"/>
            <a:ext cx="10972800" cy="119184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AA4C9-86F8-9984-6109-D840281DF554}"/>
              </a:ext>
            </a:extLst>
          </p:cNvPr>
          <p:cNvSpPr txBox="1"/>
          <p:nvPr/>
        </p:nvSpPr>
        <p:spPr>
          <a:xfrm>
            <a:off x="749807" y="1584581"/>
            <a:ext cx="106923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0F1B3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2000" b="0" i="0" dirty="0">
                <a:solidFill>
                  <a:srgbClr val="0F1B3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 компаниях с телефонными продажами менеджеры вручную обрабатывают каждый звонок: прослушивают аудиозапись и переносят данные в учётную систему. Это медленно и приводит к ошибкам, из-за чего бизнес теряет клиентов.</a:t>
            </a:r>
            <a:r>
              <a:rPr lang="en-US" sz="2000" b="0" i="0" dirty="0">
                <a:solidFill>
                  <a:srgbClr val="0F1B3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76BD01-130F-F440-3AC5-E7C54605D123}"/>
              </a:ext>
            </a:extLst>
          </p:cNvPr>
          <p:cNvSpPr txBox="1"/>
          <p:nvPr/>
        </p:nvSpPr>
        <p:spPr>
          <a:xfrm>
            <a:off x="609600" y="2936337"/>
            <a:ext cx="8808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0F1B3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КТО?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5E93A42-4544-A180-C20B-CE752B89915A}"/>
              </a:ext>
            </a:extLst>
          </p:cNvPr>
          <p:cNvSpPr/>
          <p:nvPr/>
        </p:nvSpPr>
        <p:spPr>
          <a:xfrm>
            <a:off x="609600" y="3336447"/>
            <a:ext cx="9954768" cy="40011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FAD2CF-482C-67AB-DB61-78B645B1AEA6}"/>
              </a:ext>
            </a:extLst>
          </p:cNvPr>
          <p:cNvSpPr txBox="1"/>
          <p:nvPr/>
        </p:nvSpPr>
        <p:spPr>
          <a:xfrm>
            <a:off x="609600" y="3818560"/>
            <a:ext cx="2746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0F1B3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ЧТО ПРОИСХОДИТ?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D1B68EBF-261E-3078-73F6-04DC2A9F776E}"/>
              </a:ext>
            </a:extLst>
          </p:cNvPr>
          <p:cNvSpPr/>
          <p:nvPr/>
        </p:nvSpPr>
        <p:spPr>
          <a:xfrm>
            <a:off x="609600" y="4218670"/>
            <a:ext cx="9954768" cy="615553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E597AF-255D-0CE2-423A-995DDF7E70EC}"/>
              </a:ext>
            </a:extLst>
          </p:cNvPr>
          <p:cNvSpPr txBox="1"/>
          <p:nvPr/>
        </p:nvSpPr>
        <p:spPr>
          <a:xfrm>
            <a:off x="609600" y="4916226"/>
            <a:ext cx="3121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0F1B3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ПОЧЕМУ ЭТО ВАЖНО?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C919BFB-DAF9-6B44-973C-A3AB42D68028}"/>
              </a:ext>
            </a:extLst>
          </p:cNvPr>
          <p:cNvSpPr/>
          <p:nvPr/>
        </p:nvSpPr>
        <p:spPr>
          <a:xfrm>
            <a:off x="609600" y="5422089"/>
            <a:ext cx="9954768" cy="584775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B91DB-CFB8-56A8-C5CF-A55A32AEEFD7}"/>
              </a:ext>
            </a:extLst>
          </p:cNvPr>
          <p:cNvSpPr txBox="1"/>
          <p:nvPr/>
        </p:nvSpPr>
        <p:spPr>
          <a:xfrm>
            <a:off x="609600" y="3362766"/>
            <a:ext cx="99547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Менеджеры и операторы в компаниях, принимающих заказы по телефону: опт, полиграфия, услуги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A5B58C-D664-B59D-893B-1F67BBC862C1}"/>
              </a:ext>
            </a:extLst>
          </p:cNvPr>
          <p:cNvSpPr txBox="1"/>
          <p:nvPr/>
        </p:nvSpPr>
        <p:spPr>
          <a:xfrm>
            <a:off x="609600" y="4234058"/>
            <a:ext cx="98511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Менеджер прослушивает аудиозапись, вручную выписывает параметры заказа и переносит их в учётную систему. В пиковые часы не успевает обрабатывать заказы.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FDA3A2-E13A-3332-AD24-D76886EADA04}"/>
              </a:ext>
            </a:extLst>
          </p:cNvPr>
          <p:cNvSpPr txBox="1"/>
          <p:nvPr/>
        </p:nvSpPr>
        <p:spPr>
          <a:xfrm>
            <a:off x="683514" y="5398339"/>
            <a:ext cx="97772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Ошибки ввода ведут к переделкам и потерям деталей. Клиенты ждут, раздражаются и уходят к конкурентам. Репутация страдает.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217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74B6-578A-5F25-7F2C-6C7443B58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164CC0-8015-5AB8-FCC7-B05ED9CE844E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9C78E-4481-6DBD-C555-741FAA60CDF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</a:t>
            </a:r>
            <a:r>
              <a:rPr lang="en-US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4</a:t>
            </a:r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103A00-127E-9FB2-0B7C-88F3ECA6F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9AEA9E-4C9C-6743-7FA5-618D093C98CA}"/>
              </a:ext>
            </a:extLst>
          </p:cNvPr>
          <p:cNvSpPr txBox="1"/>
          <p:nvPr/>
        </p:nvSpPr>
        <p:spPr>
          <a:xfrm>
            <a:off x="3415855" y="503936"/>
            <a:ext cx="53602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Целевая Аудитория 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 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FB768-538A-1977-59DC-CD0697527BA7}"/>
              </a:ext>
            </a:extLst>
          </p:cNvPr>
          <p:cNvSpPr txBox="1"/>
          <p:nvPr/>
        </p:nvSpPr>
        <p:spPr>
          <a:xfrm>
            <a:off x="609600" y="1435556"/>
            <a:ext cx="2293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C91D318-803B-2452-E49F-548C35BEC55C}"/>
              </a:ext>
            </a:extLst>
          </p:cNvPr>
          <p:cNvSpPr/>
          <p:nvPr/>
        </p:nvSpPr>
        <p:spPr>
          <a:xfrm>
            <a:off x="609600" y="1970043"/>
            <a:ext cx="9954768" cy="40011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D9053F-508B-4165-2389-8C554E962D52}"/>
              </a:ext>
            </a:extLst>
          </p:cNvPr>
          <p:cNvSpPr txBox="1"/>
          <p:nvPr/>
        </p:nvSpPr>
        <p:spPr>
          <a:xfrm>
            <a:off x="609600" y="2526832"/>
            <a:ext cx="2746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0F1B3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БОЛЬ БИЗНЕСА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718D32D-CFB4-7724-785F-37233489E2FB}"/>
              </a:ext>
            </a:extLst>
          </p:cNvPr>
          <p:cNvSpPr/>
          <p:nvPr/>
        </p:nvSpPr>
        <p:spPr>
          <a:xfrm>
            <a:off x="609600" y="3085069"/>
            <a:ext cx="9954768" cy="615553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75C908-461E-D8CC-24E8-BB96D95E92A8}"/>
              </a:ext>
            </a:extLst>
          </p:cNvPr>
          <p:cNvSpPr txBox="1"/>
          <p:nvPr/>
        </p:nvSpPr>
        <p:spPr>
          <a:xfrm>
            <a:off x="609600" y="3831708"/>
            <a:ext cx="3121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0F1B3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БОЛЬ КЛИЕНТА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833DD5D7-73B9-317E-2FD8-FB9B8F4A4C7D}"/>
              </a:ext>
            </a:extLst>
          </p:cNvPr>
          <p:cNvSpPr/>
          <p:nvPr/>
        </p:nvSpPr>
        <p:spPr>
          <a:xfrm>
            <a:off x="609600" y="4366195"/>
            <a:ext cx="9954768" cy="584775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BF0787-1CFC-899A-312C-DC6735F1FE5F}"/>
              </a:ext>
            </a:extLst>
          </p:cNvPr>
          <p:cNvSpPr txBox="1"/>
          <p:nvPr/>
        </p:nvSpPr>
        <p:spPr>
          <a:xfrm>
            <a:off x="609600" y="1996362"/>
            <a:ext cx="9851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Колл-центры, службы доставки, B2B-продажи, полиграфия, ритейл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54842E-65D0-36E5-F2C5-B685439A301A}"/>
              </a:ext>
            </a:extLst>
          </p:cNvPr>
          <p:cNvSpPr txBox="1"/>
          <p:nvPr/>
        </p:nvSpPr>
        <p:spPr>
          <a:xfrm>
            <a:off x="609600" y="3100457"/>
            <a:ext cx="98511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Оператор тратит до 40% времени не на общение, а на ручной ввод данных. Ошибки при расшифровке звонков приводят к браку, переделкам и убыткам.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8A9625-8AE4-6778-9895-230B35143FF3}"/>
              </a:ext>
            </a:extLst>
          </p:cNvPr>
          <p:cNvSpPr txBox="1"/>
          <p:nvPr/>
        </p:nvSpPr>
        <p:spPr>
          <a:xfrm>
            <a:off x="683514" y="4342445"/>
            <a:ext cx="97772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Долгое ожидание расчета, потеря деталей заказа, необходимость повторять одно и то же разным менеджерам.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54B763-D62A-8A6D-2485-8CCC578994D9}"/>
              </a:ext>
            </a:extLst>
          </p:cNvPr>
          <p:cNvSpPr txBox="1"/>
          <p:nvPr/>
        </p:nvSpPr>
        <p:spPr>
          <a:xfrm>
            <a:off x="609600" y="5085347"/>
            <a:ext cx="1268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0F1B3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ИНСАЙТ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DD83AD9C-6116-56DB-455E-3C2F70A5730A}"/>
              </a:ext>
            </a:extLst>
          </p:cNvPr>
          <p:cNvSpPr/>
          <p:nvPr/>
        </p:nvSpPr>
        <p:spPr>
          <a:xfrm>
            <a:off x="609600" y="5643584"/>
            <a:ext cx="9954768" cy="584775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975F04-E1FD-8EA5-D40E-64134F7821BF}"/>
              </a:ext>
            </a:extLst>
          </p:cNvPr>
          <p:cNvSpPr txBox="1"/>
          <p:nvPr/>
        </p:nvSpPr>
        <p:spPr>
          <a:xfrm>
            <a:off x="683514" y="5619834"/>
            <a:ext cx="97772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Клиент хочет получить расчет за минуты, а не часы. Бизнес готов платить за решение, которое окупается за счет сохранения упущенных лидов.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065E11E-7857-EA67-9E0D-1FFF9300E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75" t="7423" r="38236" b="7421"/>
          <a:stretch>
            <a:fillRect/>
          </a:stretch>
        </p:blipFill>
        <p:spPr>
          <a:xfrm>
            <a:off x="11222374" y="5073977"/>
            <a:ext cx="720052" cy="141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0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CFC7-1FA5-693C-80E9-741BB2035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0EBCAA-A4A3-06B8-11E6-FD6572AF54A1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F1B07-5AF1-C601-B599-7491E13D66A8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05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57BF16-3852-359A-1A2D-50FF826D5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58121F-F05B-ACEB-0105-F402CA642AD1}"/>
              </a:ext>
            </a:extLst>
          </p:cNvPr>
          <p:cNvSpPr txBox="1"/>
          <p:nvPr/>
        </p:nvSpPr>
        <p:spPr>
          <a:xfrm>
            <a:off x="3004375" y="508000"/>
            <a:ext cx="61832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Предлагаемое решение 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621AADB-9DDF-0FA5-C343-6C550BC8CAE5}"/>
              </a:ext>
            </a:extLst>
          </p:cNvPr>
          <p:cNvSpPr/>
          <p:nvPr/>
        </p:nvSpPr>
        <p:spPr>
          <a:xfrm>
            <a:off x="609599" y="1969566"/>
            <a:ext cx="10972800" cy="1060704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3B4F8-66BC-9343-FA3E-749DF0B9988F}"/>
              </a:ext>
            </a:extLst>
          </p:cNvPr>
          <p:cNvSpPr txBox="1"/>
          <p:nvPr/>
        </p:nvSpPr>
        <p:spPr>
          <a:xfrm>
            <a:off x="742949" y="2145975"/>
            <a:ext cx="103578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2000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Приложение, которое принимает аудиозапись звонка и автоматически формирует структурированное описание заказа.</a:t>
            </a:r>
            <a:r>
              <a:rPr lang="en-US" sz="2000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10D59-E48F-5741-21D2-732427C0974F}"/>
              </a:ext>
            </a:extLst>
          </p:cNvPr>
          <p:cNvSpPr txBox="1"/>
          <p:nvPr/>
        </p:nvSpPr>
        <p:spPr>
          <a:xfrm>
            <a:off x="609599" y="1415568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8EC4FEA-31E6-F777-0944-A5DD4A67EE54}"/>
              </a:ext>
            </a:extLst>
          </p:cNvPr>
          <p:cNvSpPr/>
          <p:nvPr/>
        </p:nvSpPr>
        <p:spPr>
          <a:xfrm>
            <a:off x="1134427" y="4123943"/>
            <a:ext cx="2673097" cy="2121407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6A30DFD-4994-790A-D455-7CE5478FB829}"/>
              </a:ext>
            </a:extLst>
          </p:cNvPr>
          <p:cNvSpPr/>
          <p:nvPr/>
        </p:nvSpPr>
        <p:spPr>
          <a:xfrm>
            <a:off x="4759450" y="4123943"/>
            <a:ext cx="2673097" cy="2121407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D0DC8DFF-5355-800A-0B81-DD483672C7C6}"/>
              </a:ext>
            </a:extLst>
          </p:cNvPr>
          <p:cNvSpPr/>
          <p:nvPr/>
        </p:nvSpPr>
        <p:spPr>
          <a:xfrm>
            <a:off x="8384473" y="4123942"/>
            <a:ext cx="2673097" cy="2121407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05BC6EB4-D714-72FB-1AC7-53226C71C940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3807524" y="5184647"/>
            <a:ext cx="9519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010CD26B-D366-C985-CB83-B877FBD25BB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7432547" y="5184646"/>
            <a:ext cx="951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747EF95-82EC-8C6D-72F7-4204B16DB382}"/>
              </a:ext>
            </a:extLst>
          </p:cNvPr>
          <p:cNvSpPr txBox="1"/>
          <p:nvPr/>
        </p:nvSpPr>
        <p:spPr>
          <a:xfrm>
            <a:off x="1642776" y="3627676"/>
            <a:ext cx="16563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Проблема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3D6793-5D41-DB4A-72C2-1D39205839AA}"/>
              </a:ext>
            </a:extLst>
          </p:cNvPr>
          <p:cNvSpPr txBox="1"/>
          <p:nvPr/>
        </p:nvSpPr>
        <p:spPr>
          <a:xfrm>
            <a:off x="4807122" y="3627676"/>
            <a:ext cx="25777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Механика решения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C157F5-30D4-A678-A665-9E2DE77ED718}"/>
              </a:ext>
            </a:extLst>
          </p:cNvPr>
          <p:cNvSpPr txBox="1"/>
          <p:nvPr/>
        </p:nvSpPr>
        <p:spPr>
          <a:xfrm>
            <a:off x="8988263" y="3627676"/>
            <a:ext cx="14655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02E30D-B80F-691D-6C39-5048C9A6B34B}"/>
              </a:ext>
            </a:extLst>
          </p:cNvPr>
          <p:cNvSpPr txBox="1"/>
          <p:nvPr/>
        </p:nvSpPr>
        <p:spPr>
          <a:xfrm>
            <a:off x="1352646" y="4584480"/>
            <a:ext cx="2236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Долгая ручная обработка звонков, потеря данных и ошибки.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86F782-5104-26B5-88EA-8CF7BF0C4D07}"/>
              </a:ext>
            </a:extLst>
          </p:cNvPr>
          <p:cNvSpPr txBox="1"/>
          <p:nvPr/>
        </p:nvSpPr>
        <p:spPr>
          <a:xfrm>
            <a:off x="5207946" y="4445979"/>
            <a:ext cx="1776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Приложение, которое из аудиозаписи звонка делает отчет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C31519-3070-DC57-F855-E86D51D5C5FF}"/>
              </a:ext>
            </a:extLst>
          </p:cNvPr>
          <p:cNvSpPr txBox="1"/>
          <p:nvPr/>
        </p:nvSpPr>
        <p:spPr>
          <a:xfrm>
            <a:off x="8558826" y="4584479"/>
            <a:ext cx="23243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Сокращение времени обработки заказа и снижение ошибок.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47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07BEC-DCA6-6DF5-7A10-D97091E5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25F788-8348-C27D-B97C-5B274243778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8A56A-F00B-A1A5-C887-941F9568C5B8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06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FFB3E8-6830-3E19-994C-7FAA128A8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0613E-0CF7-C72B-572B-D5ABD8F3B8B4}"/>
              </a:ext>
            </a:extLst>
          </p:cNvPr>
          <p:cNvSpPr txBox="1"/>
          <p:nvPr/>
        </p:nvSpPr>
        <p:spPr>
          <a:xfrm>
            <a:off x="4670679" y="513080"/>
            <a:ext cx="28506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Трены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 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3A481C-38F0-91A4-5202-6584F1802F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51" b="7483"/>
          <a:stretch>
            <a:fillRect/>
          </a:stretch>
        </p:blipFill>
        <p:spPr>
          <a:xfrm>
            <a:off x="704125" y="2017605"/>
            <a:ext cx="5038308" cy="252696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5959DF0-74E1-B1ED-5816-7C462D0E17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884"/>
          <a:stretch>
            <a:fillRect/>
          </a:stretch>
        </p:blipFill>
        <p:spPr>
          <a:xfrm>
            <a:off x="6449570" y="2017605"/>
            <a:ext cx="5038308" cy="253677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00FA8D3-B75A-B9F0-ECEF-D1B9C21CD9BB}"/>
              </a:ext>
            </a:extLst>
          </p:cNvPr>
          <p:cNvSpPr/>
          <p:nvPr/>
        </p:nvSpPr>
        <p:spPr>
          <a:xfrm>
            <a:off x="6449569" y="4901184"/>
            <a:ext cx="5038308" cy="82296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AB0DA1-BA58-8FD9-A9DC-897107AEB63A}"/>
              </a:ext>
            </a:extLst>
          </p:cNvPr>
          <p:cNvSpPr txBox="1"/>
          <p:nvPr/>
        </p:nvSpPr>
        <p:spPr>
          <a:xfrm>
            <a:off x="6449568" y="4989498"/>
            <a:ext cx="51328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F1B3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 </a:t>
            </a:r>
            <a:r>
              <a:rPr lang="ru-RU" kern="0" dirty="0">
                <a:solidFill>
                  <a:srgbClr val="0F1B3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Динамика популярности поискового запроса «automated order processing» в мире</a:t>
            </a:r>
            <a:r>
              <a:rPr lang="en-US" kern="0" dirty="0">
                <a:solidFill>
                  <a:srgbClr val="0F1B3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]</a:t>
            </a:r>
            <a:endParaRPr lang="ru-RU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FBFC51CC-821B-5C6B-E8E8-94662DA8E530}"/>
              </a:ext>
            </a:extLst>
          </p:cNvPr>
          <p:cNvSpPr/>
          <p:nvPr/>
        </p:nvSpPr>
        <p:spPr>
          <a:xfrm>
            <a:off x="704125" y="4901184"/>
            <a:ext cx="5038308" cy="82296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C2C21-B927-CDB9-7A9E-A64D8E17C74A}"/>
              </a:ext>
            </a:extLst>
          </p:cNvPr>
          <p:cNvSpPr txBox="1"/>
          <p:nvPr/>
        </p:nvSpPr>
        <p:spPr>
          <a:xfrm>
            <a:off x="704124" y="4989498"/>
            <a:ext cx="511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F1B3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 </a:t>
            </a:r>
            <a:r>
              <a:rPr lang="ru-RU" kern="0" dirty="0">
                <a:solidFill>
                  <a:srgbClr val="0F1B3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Динамика популярности поискового запроса «</a:t>
            </a:r>
            <a:r>
              <a:rPr lang="en-US" kern="0" dirty="0">
                <a:solidFill>
                  <a:srgbClr val="0F1B3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voice to order</a:t>
            </a:r>
            <a:r>
              <a:rPr lang="ru-RU" kern="0" dirty="0">
                <a:solidFill>
                  <a:srgbClr val="0F1B3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» в мире</a:t>
            </a:r>
            <a:r>
              <a:rPr lang="en-US" kern="0" dirty="0">
                <a:solidFill>
                  <a:srgbClr val="0F1B3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]</a:t>
            </a:r>
            <a:endParaRPr lang="ru-RU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881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6EE9-7CFD-1EEF-517D-09875B1E3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D5E0E5-5703-5914-B969-B7D6F79DDDF0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6FD27-7AEB-CF35-3122-0B9772670A8F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07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B5725D-368E-F898-9C68-525E43429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C4903F-6C93-E60D-BDC8-F7116A6576CD}"/>
              </a:ext>
            </a:extLst>
          </p:cNvPr>
          <p:cNvSpPr txBox="1"/>
          <p:nvPr/>
        </p:nvSpPr>
        <p:spPr>
          <a:xfrm>
            <a:off x="4705159" y="508000"/>
            <a:ext cx="27816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Аналоги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 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2A1F8C-7071-243A-642F-016801A140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6" t="14119" r="25615" b="12366"/>
          <a:stretch>
            <a:fillRect/>
          </a:stretch>
        </p:blipFill>
        <p:spPr>
          <a:xfrm>
            <a:off x="10515062" y="5394960"/>
            <a:ext cx="1444197" cy="1221232"/>
          </a:xfrm>
          <a:prstGeom prst="rect">
            <a:avLst/>
          </a:prstGeom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20115E1-D55E-1A96-2079-E3FF6518E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20597"/>
              </p:ext>
            </p:extLst>
          </p:nvPr>
        </p:nvGraphicFramePr>
        <p:xfrm>
          <a:off x="1861820" y="1417321"/>
          <a:ext cx="8468360" cy="4697534"/>
        </p:xfrm>
        <a:graphic>
          <a:graphicData uri="http://schemas.openxmlformats.org/drawingml/2006/table">
            <a:tbl>
              <a:tblPr firstRow="1">
                <a:tableStyleId>{0505E3EF-67EA-436B-97B2-0124C06EBD24}</a:tableStyleId>
              </a:tblPr>
              <a:tblGrid>
                <a:gridCol w="4228084">
                  <a:extLst>
                    <a:ext uri="{9D8B030D-6E8A-4147-A177-3AD203B41FA5}">
                      <a16:colId xmlns:a16="http://schemas.microsoft.com/office/drawing/2014/main" val="4079373156"/>
                    </a:ext>
                  </a:extLst>
                </a:gridCol>
                <a:gridCol w="4240276">
                  <a:extLst>
                    <a:ext uri="{9D8B030D-6E8A-4147-A177-3AD203B41FA5}">
                      <a16:colId xmlns:a16="http://schemas.microsoft.com/office/drawing/2014/main" val="1435138884"/>
                    </a:ext>
                  </a:extLst>
                </a:gridCol>
              </a:tblGrid>
              <a:tr h="610675"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</a:t>
                      </a:r>
                      <a:endParaRPr lang="ru-RU" sz="2000" b="1" i="0" dirty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Ограничения</a:t>
                      </a:r>
                      <a:endParaRPr lang="ru-RU" sz="2000" b="1" i="0" dirty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242119710"/>
                  </a:ext>
                </a:extLst>
              </a:tr>
              <a:tr h="1075634"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Maple Voice AI (США)</a:t>
                      </a:r>
                      <a:endParaRPr lang="ru-RU" sz="2000" b="0" i="0" dirty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Только рестораны, высокая стоимость</a:t>
                      </a:r>
                      <a:endParaRPr lang="ru-RU" sz="2000" b="0" i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84150981"/>
                  </a:ext>
                </a:extLst>
              </a:tr>
              <a:tr h="610675"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Takeorder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AI (США)</a:t>
                      </a:r>
                      <a:endParaRPr lang="ru-RU" sz="2000" b="0" i="0" dirty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Только ресторанная сфера</a:t>
                      </a:r>
                      <a:endParaRPr lang="ru-RU" sz="2000" b="0" i="0" dirty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51861052"/>
                  </a:ext>
                </a:extLst>
              </a:tr>
              <a:tr h="857695"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Yandex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SpeechKit</a:t>
                      </a:r>
                      <a:endParaRPr lang="ru-RU" sz="2000" b="0" i="0" dirty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Только распознавание речи, без структурирования заказа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82759051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GigaChat Audio</a:t>
                      </a:r>
                      <a:endParaRPr lang="ru-RU" sz="2400" b="0" i="0" dirty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Это модель, а не готовое приложение для заказов.</a:t>
                      </a:r>
                      <a:endParaRPr lang="ru-RU" sz="24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46257413"/>
                  </a:ext>
                </a:extLst>
              </a:tr>
              <a:tr h="610675"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Ручной ввод</a:t>
                      </a:r>
                      <a:endParaRPr lang="ru-RU" sz="2000" b="0" i="0" dirty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8889"/>
                        </a:lnSpc>
                        <a:buNone/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Медленно, дорого, с ошибками</a:t>
                      </a:r>
                      <a:endParaRPr lang="ru-RU" sz="2000" b="0" i="0" dirty="0">
                        <a:solidFill>
                          <a:srgbClr val="F9FAFB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778179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155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0672-8D70-C2A1-601E-3797B8A3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B507D8-BE79-E5BF-4902-DE95B0DB6C44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B4D7E-F8F9-A15F-1E65-D459F95A4EC1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08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045A47-67AC-AFA6-60A4-7B53F4061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F9C4F4-728A-1B9E-DD4C-7AC3195DCA87}"/>
              </a:ext>
            </a:extLst>
          </p:cNvPr>
          <p:cNvSpPr txBox="1"/>
          <p:nvPr/>
        </p:nvSpPr>
        <p:spPr>
          <a:xfrm>
            <a:off x="4554283" y="419100"/>
            <a:ext cx="30834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Ценность 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E67EEA1-4F3D-6612-DA7F-170600BAB3A5}"/>
              </a:ext>
            </a:extLst>
          </p:cNvPr>
          <p:cNvSpPr/>
          <p:nvPr/>
        </p:nvSpPr>
        <p:spPr>
          <a:xfrm>
            <a:off x="609600" y="1742858"/>
            <a:ext cx="10972801" cy="1807625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FFB56E-0CD1-C559-BB70-6242F9A18F2D}"/>
              </a:ext>
            </a:extLst>
          </p:cNvPr>
          <p:cNvSpPr txBox="1"/>
          <p:nvPr/>
        </p:nvSpPr>
        <p:spPr>
          <a:xfrm>
            <a:off x="738757" y="1984950"/>
            <a:ext cx="107144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2000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Приложение избавляет менеджеров от рутинного ручного ввода данных из звонков. Вместо того чтобы прослушивать аудиозапись и переносить информацию в CRM вручную, менеджер просто загружает файл — и получает готовый структурированный заказ. </a:t>
            </a:r>
            <a:r>
              <a:rPr lang="en-US" sz="2000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9A2AD3-F59C-8A79-C73C-D46C2EF1B500}"/>
              </a:ext>
            </a:extLst>
          </p:cNvPr>
          <p:cNvSpPr txBox="1"/>
          <p:nvPr/>
        </p:nvSpPr>
        <p:spPr>
          <a:xfrm>
            <a:off x="609600" y="1280167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ПОЛЬЗА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311826-4F59-6A2F-7F06-9690CC3F09FD}"/>
              </a:ext>
            </a:extLst>
          </p:cNvPr>
          <p:cNvSpPr txBox="1"/>
          <p:nvPr/>
        </p:nvSpPr>
        <p:spPr>
          <a:xfrm>
            <a:off x="2755392" y="3920133"/>
            <a:ext cx="12740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БИЗНЕС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FCE21-0B8A-2DFF-F6A9-6A6DA0FD39FC}"/>
              </a:ext>
            </a:extLst>
          </p:cNvPr>
          <p:cNvSpPr txBox="1"/>
          <p:nvPr/>
        </p:nvSpPr>
        <p:spPr>
          <a:xfrm>
            <a:off x="8162544" y="3920133"/>
            <a:ext cx="12740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КЛИЕНТ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45872AD-E1BB-8CEC-1B8E-20690649309B}"/>
              </a:ext>
            </a:extLst>
          </p:cNvPr>
          <p:cNvSpPr/>
          <p:nvPr/>
        </p:nvSpPr>
        <p:spPr>
          <a:xfrm>
            <a:off x="1614772" y="4522705"/>
            <a:ext cx="3606452" cy="18076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F5E7D7-70C1-5AD9-F4DF-C6DA7408B421}"/>
              </a:ext>
            </a:extLst>
          </p:cNvPr>
          <p:cNvSpPr txBox="1"/>
          <p:nvPr/>
        </p:nvSpPr>
        <p:spPr>
          <a:xfrm>
            <a:off x="1614772" y="4901653"/>
            <a:ext cx="36064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Экономия времени менеджеров.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Меньше ошибок при вводе.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Больше обработанных звонков.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Единый формат заказов.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DEC2E83-578C-D343-F1ED-79FE0A450624}"/>
              </a:ext>
            </a:extLst>
          </p:cNvPr>
          <p:cNvSpPr/>
          <p:nvPr/>
        </p:nvSpPr>
        <p:spPr>
          <a:xfrm>
            <a:off x="6970778" y="4504886"/>
            <a:ext cx="3606452" cy="18076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C246C9-6CB5-889E-10EB-EDB6E44B36B0}"/>
              </a:ext>
            </a:extLst>
          </p:cNvPr>
          <p:cNvSpPr txBox="1"/>
          <p:nvPr/>
        </p:nvSpPr>
        <p:spPr>
          <a:xfrm>
            <a:off x="6996350" y="4778542"/>
            <a:ext cx="36064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Быстрый расчёт стоимости.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Точное выполнение без переделок.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нужно повторять заказ разным менеджерам.</a:t>
            </a:r>
          </a:p>
        </p:txBody>
      </p:sp>
    </p:spTree>
    <p:extLst>
      <p:ext uri="{BB962C8B-B14F-4D97-AF65-F5344CB8AC3E}">
        <p14:creationId xmlns:p14="http://schemas.microsoft.com/office/powerpoint/2010/main" val="233068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8331-16E3-E3D8-397A-5B6327FA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023CEC-34E9-FE50-DDCD-63297B7C1E9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D1C83-DEBF-4350-BC05-D12F32DD2D26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09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D0273F-E8A1-FBF0-0A5B-ECCB6255C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26D34B-6C9C-5903-AB0E-8C8C302F8680}"/>
              </a:ext>
            </a:extLst>
          </p:cNvPr>
          <p:cNvSpPr txBox="1"/>
          <p:nvPr/>
        </p:nvSpPr>
        <p:spPr>
          <a:xfrm>
            <a:off x="2286000" y="508508"/>
            <a:ext cx="762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Особенность нашего продукта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 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A07B862-6B16-E43F-84E8-214DFC996230}"/>
              </a:ext>
            </a:extLst>
          </p:cNvPr>
          <p:cNvSpPr/>
          <p:nvPr/>
        </p:nvSpPr>
        <p:spPr>
          <a:xfrm>
            <a:off x="609600" y="2048284"/>
            <a:ext cx="8324088" cy="553998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6CCD63-3221-66F7-336B-90B020E4201C}"/>
              </a:ext>
            </a:extLst>
          </p:cNvPr>
          <p:cNvSpPr txBox="1"/>
          <p:nvPr/>
        </p:nvSpPr>
        <p:spPr>
          <a:xfrm>
            <a:off x="755902" y="2125228"/>
            <a:ext cx="3925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Работает с русской речью</a:t>
            </a:r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E6188B8-9865-16C4-48DD-F9D31CA29980}"/>
              </a:ext>
            </a:extLst>
          </p:cNvPr>
          <p:cNvSpPr/>
          <p:nvPr/>
        </p:nvSpPr>
        <p:spPr>
          <a:xfrm>
            <a:off x="609600" y="2767612"/>
            <a:ext cx="8324088" cy="553998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7C7F50-A8CA-C07F-DFF9-E10596BADAC7}"/>
              </a:ext>
            </a:extLst>
          </p:cNvPr>
          <p:cNvSpPr txBox="1"/>
          <p:nvPr/>
        </p:nvSpPr>
        <p:spPr>
          <a:xfrm>
            <a:off x="755902" y="2844556"/>
            <a:ext cx="3925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Гибридный режим</a:t>
            </a:r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7001CC0-8FD1-5119-1570-6DD3371E311D}"/>
              </a:ext>
            </a:extLst>
          </p:cNvPr>
          <p:cNvSpPr/>
          <p:nvPr/>
        </p:nvSpPr>
        <p:spPr>
          <a:xfrm>
            <a:off x="609600" y="3486940"/>
            <a:ext cx="8324088" cy="553998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57EA1C-F59A-2AD4-33C9-A8C83C71EA14}"/>
              </a:ext>
            </a:extLst>
          </p:cNvPr>
          <p:cNvSpPr txBox="1"/>
          <p:nvPr/>
        </p:nvSpPr>
        <p:spPr>
          <a:xfrm>
            <a:off x="755902" y="3563884"/>
            <a:ext cx="3925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Низкая стоимость</a:t>
            </a:r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C72588F-83DA-2533-9693-D02AB4040ED8}"/>
              </a:ext>
            </a:extLst>
          </p:cNvPr>
          <p:cNvSpPr/>
          <p:nvPr/>
        </p:nvSpPr>
        <p:spPr>
          <a:xfrm>
            <a:off x="609600" y="4206268"/>
            <a:ext cx="8324088" cy="553998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11564-486D-DD28-A090-4FAB894C09E7}"/>
              </a:ext>
            </a:extLst>
          </p:cNvPr>
          <p:cNvSpPr txBox="1"/>
          <p:nvPr/>
        </p:nvSpPr>
        <p:spPr>
          <a:xfrm>
            <a:off x="755902" y="4283212"/>
            <a:ext cx="3925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Быстрое внедрение</a:t>
            </a:r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B92043B-CA27-1CED-0AF0-990C3BE144D5}"/>
              </a:ext>
            </a:extLst>
          </p:cNvPr>
          <p:cNvSpPr/>
          <p:nvPr/>
        </p:nvSpPr>
        <p:spPr>
          <a:xfrm>
            <a:off x="609600" y="4925596"/>
            <a:ext cx="8324088" cy="553998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98E9E-46BC-EC4B-DC4C-F8D5D4D29569}"/>
              </a:ext>
            </a:extLst>
          </p:cNvPr>
          <p:cNvSpPr txBox="1"/>
          <p:nvPr/>
        </p:nvSpPr>
        <p:spPr>
          <a:xfrm>
            <a:off x="755902" y="5002540"/>
            <a:ext cx="3925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Универсальность</a:t>
            </a:r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AF8012B-9EED-2887-998D-BB2BCCADB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75" t="7423" r="38236" b="7421"/>
          <a:stretch>
            <a:fillRect/>
          </a:stretch>
        </p:blipFill>
        <p:spPr>
          <a:xfrm>
            <a:off x="10712009" y="4723816"/>
            <a:ext cx="870391" cy="171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2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49CBE-468C-59A1-FBC6-CBA03939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EF542ECF-E77E-DFA5-E9B6-D8CC5FA93293}"/>
              </a:ext>
            </a:extLst>
          </p:cNvPr>
          <p:cNvSpPr/>
          <p:nvPr/>
        </p:nvSpPr>
        <p:spPr>
          <a:xfrm>
            <a:off x="7742635" y="1863432"/>
            <a:ext cx="1885589" cy="133259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BE3304DD-4768-4C46-743E-7596FCBF4CE9}"/>
              </a:ext>
            </a:extLst>
          </p:cNvPr>
          <p:cNvSpPr/>
          <p:nvPr/>
        </p:nvSpPr>
        <p:spPr>
          <a:xfrm>
            <a:off x="5245981" y="1908353"/>
            <a:ext cx="1885589" cy="133259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EB94D1-37F3-C48D-F97E-C52973EC52C1}"/>
              </a:ext>
            </a:extLst>
          </p:cNvPr>
          <p:cNvSpPr txBox="1"/>
          <p:nvPr/>
        </p:nvSpPr>
        <p:spPr>
          <a:xfrm>
            <a:off x="5254752" y="2164782"/>
            <a:ext cx="1876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Извлекаем параметры заказа 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57D24F55-2509-6025-D391-2CCD3CD207AA}"/>
              </a:ext>
            </a:extLst>
          </p:cNvPr>
          <p:cNvSpPr/>
          <p:nvPr/>
        </p:nvSpPr>
        <p:spPr>
          <a:xfrm>
            <a:off x="2740556" y="1960149"/>
            <a:ext cx="1885589" cy="133259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B78FE-94A2-1F0C-2D90-AE9B05311A2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FA5BAF-A6A4-DA48-99D2-FF5924E4E662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10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1FB738-59AC-8257-5410-7B3DB34AB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65B6D5-4C39-E55B-EB4C-964DF363A9A5}"/>
              </a:ext>
            </a:extLst>
          </p:cNvPr>
          <p:cNvSpPr txBox="1"/>
          <p:nvPr/>
        </p:nvSpPr>
        <p:spPr>
          <a:xfrm>
            <a:off x="3758755" y="508000"/>
            <a:ext cx="46744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Как это работает 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89342F-C657-B39E-8D0B-072B90DCF97A}"/>
              </a:ext>
            </a:extLst>
          </p:cNvPr>
          <p:cNvSpPr txBox="1"/>
          <p:nvPr/>
        </p:nvSpPr>
        <p:spPr>
          <a:xfrm>
            <a:off x="2749327" y="2313910"/>
            <a:ext cx="18855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GigaAM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обрабатывает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7CB8A4-E815-1124-4373-C91E22940307}"/>
              </a:ext>
            </a:extLst>
          </p:cNvPr>
          <p:cNvSpPr txBox="1"/>
          <p:nvPr/>
        </p:nvSpPr>
        <p:spPr>
          <a:xfrm>
            <a:off x="7742634" y="2206564"/>
            <a:ext cx="18855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Получаем 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 ]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49719BD6-AB9B-8D4D-32F0-15C3401174BC}"/>
              </a:ext>
            </a:extLst>
          </p:cNvPr>
          <p:cNvCxnSpPr>
            <a:cxnSpLocks/>
            <a:stCxn id="28" idx="3"/>
            <a:endCxn id="35" idx="1"/>
          </p:cNvCxnSpPr>
          <p:nvPr/>
        </p:nvCxnSpPr>
        <p:spPr>
          <a:xfrm>
            <a:off x="2119484" y="2612870"/>
            <a:ext cx="621072" cy="13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05360C41-0FD7-2626-B47B-AE7CC28A54B7}"/>
              </a:ext>
            </a:extLst>
          </p:cNvPr>
          <p:cNvSpPr/>
          <p:nvPr/>
        </p:nvSpPr>
        <p:spPr>
          <a:xfrm>
            <a:off x="233895" y="1946572"/>
            <a:ext cx="1885589" cy="133259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55453058-105C-F8BC-21D5-123AF04B0502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4634916" y="2626447"/>
            <a:ext cx="619836" cy="1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7B7D3E29-F45F-A371-CB82-6889458AC1C8}"/>
              </a:ext>
            </a:extLst>
          </p:cNvPr>
          <p:cNvCxnSpPr>
            <a:cxnSpLocks/>
          </p:cNvCxnSpPr>
          <p:nvPr/>
        </p:nvCxnSpPr>
        <p:spPr>
          <a:xfrm>
            <a:off x="7122500" y="2560313"/>
            <a:ext cx="655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F40A44B0-BBAF-DC6D-73C4-9035F5541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6" t="14119" r="25615" b="12366"/>
          <a:stretch>
            <a:fillRect/>
          </a:stretch>
        </p:blipFill>
        <p:spPr>
          <a:xfrm>
            <a:off x="11059052" y="5932805"/>
            <a:ext cx="910972" cy="770330"/>
          </a:xfrm>
          <a:prstGeom prst="rect">
            <a:avLst/>
          </a:prstGeom>
        </p:spPr>
      </p:pic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35D8198C-C29E-03BA-2547-EC3885701C99}"/>
              </a:ext>
            </a:extLst>
          </p:cNvPr>
          <p:cNvSpPr/>
          <p:nvPr/>
        </p:nvSpPr>
        <p:spPr>
          <a:xfrm>
            <a:off x="233895" y="4342981"/>
            <a:ext cx="1885589" cy="133259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9139EB-B80E-E3AB-D66D-3C6C03820F84}"/>
              </a:ext>
            </a:extLst>
          </p:cNvPr>
          <p:cNvSpPr txBox="1"/>
          <p:nvPr/>
        </p:nvSpPr>
        <p:spPr>
          <a:xfrm>
            <a:off x="360468" y="4686113"/>
            <a:ext cx="163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Проблема: ручной ввод 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7014F9B2-9E85-A633-B701-16F0ED576A0D}"/>
              </a:ext>
            </a:extLst>
          </p:cNvPr>
          <p:cNvCxnSpPr>
            <a:cxnSpLocks/>
            <a:stCxn id="48" idx="0"/>
            <a:endCxn id="28" idx="2"/>
          </p:cNvCxnSpPr>
          <p:nvPr/>
        </p:nvCxnSpPr>
        <p:spPr>
          <a:xfrm flipV="1">
            <a:off x="1176690" y="3279168"/>
            <a:ext cx="0" cy="1063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Прямая со стрелкой 1">
            <a:extLst>
              <a:ext uri="{FF2B5EF4-FFF2-40B4-BE49-F238E27FC236}">
                <a16:creationId xmlns:a16="http://schemas.microsoft.com/office/drawing/2014/main" id="{4AD5CC00-CA85-446F-5731-A29032A21CCE}"/>
              </a:ext>
            </a:extLst>
          </p:cNvPr>
          <p:cNvCxnSpPr>
            <a:cxnSpLocks/>
            <a:stCxn id="66" idx="2"/>
          </p:cNvCxnSpPr>
          <p:nvPr/>
        </p:nvCxnSpPr>
        <p:spPr>
          <a:xfrm flipH="1">
            <a:off x="11102793" y="3173076"/>
            <a:ext cx="1" cy="1169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E97E68A-3759-A1B6-9FD1-B3B25477AC7E}"/>
              </a:ext>
            </a:extLst>
          </p:cNvPr>
          <p:cNvSpPr/>
          <p:nvPr/>
        </p:nvSpPr>
        <p:spPr>
          <a:xfrm>
            <a:off x="4005072" y="4185000"/>
            <a:ext cx="3831335" cy="1654841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EDCB8-D25A-4C93-8D9C-FEDDCC4D08C1}"/>
              </a:ext>
            </a:extLst>
          </p:cNvPr>
          <p:cNvSpPr txBox="1"/>
          <p:nvPr/>
        </p:nvSpPr>
        <p:spPr>
          <a:xfrm>
            <a:off x="4180269" y="4547614"/>
            <a:ext cx="34809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8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ИИ-ядро решения: </a:t>
            </a:r>
            <a:r>
              <a:rPr lang="en-US" sz="18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GigaAM</a:t>
            </a:r>
            <a:r>
              <a:rPr lang="ru-RU" sz="18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понимает аудио и превращает его в готовый заказ </a:t>
            </a:r>
            <a:r>
              <a:rPr lang="en-US" sz="18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11A49-2F45-032E-0CFA-E48EE1455F34}"/>
              </a:ext>
            </a:extLst>
          </p:cNvPr>
          <p:cNvSpPr txBox="1"/>
          <p:nvPr/>
        </p:nvSpPr>
        <p:spPr>
          <a:xfrm>
            <a:off x="242667" y="2293470"/>
            <a:ext cx="1868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ru-RU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Загружаем аудио 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465CD4CD-98C8-2618-3E9B-88A73D6D04D6}"/>
              </a:ext>
            </a:extLst>
          </p:cNvPr>
          <p:cNvSpPr/>
          <p:nvPr/>
        </p:nvSpPr>
        <p:spPr>
          <a:xfrm>
            <a:off x="10072516" y="4342981"/>
            <a:ext cx="1885589" cy="133259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54CC52E3-EAFC-9B86-4B97-309F6AE0736A}"/>
              </a:ext>
            </a:extLst>
          </p:cNvPr>
          <p:cNvSpPr/>
          <p:nvPr/>
        </p:nvSpPr>
        <p:spPr>
          <a:xfrm>
            <a:off x="10159999" y="1840480"/>
            <a:ext cx="1885589" cy="1332596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CA542B-81D4-0422-A00A-76A33C514F05}"/>
              </a:ext>
            </a:extLst>
          </p:cNvPr>
          <p:cNvSpPr txBox="1"/>
          <p:nvPr/>
        </p:nvSpPr>
        <p:spPr>
          <a:xfrm>
            <a:off x="10160000" y="1946572"/>
            <a:ext cx="1885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ru-RU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аполняем шаблон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/</a:t>
            </a:r>
            <a:r>
              <a:rPr lang="ru-RU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Отправляем в 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CRM</a:t>
            </a:r>
            <a:r>
              <a:rPr lang="ru-RU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AC7132DB-BC76-E213-4003-AA0536D28223}"/>
              </a:ext>
            </a:extLst>
          </p:cNvPr>
          <p:cNvCxnSpPr>
            <a:cxnSpLocks/>
            <a:stCxn id="21" idx="3"/>
            <a:endCxn id="26" idx="1"/>
          </p:cNvCxnSpPr>
          <p:nvPr/>
        </p:nvCxnSpPr>
        <p:spPr>
          <a:xfrm>
            <a:off x="9628223" y="2529730"/>
            <a:ext cx="531777" cy="17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B8D7035-20E6-4029-8A32-04A47169AE8F}"/>
              </a:ext>
            </a:extLst>
          </p:cNvPr>
          <p:cNvSpPr txBox="1"/>
          <p:nvPr/>
        </p:nvSpPr>
        <p:spPr>
          <a:xfrm>
            <a:off x="10159999" y="4409113"/>
            <a:ext cx="1798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Результат: готовое описание заказа </a:t>
            </a: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25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2467B-852F-C5B0-54C8-AB5C934C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C72E92-1433-953D-0FC5-2A5F6CB41701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182BF-38C9-8DFD-FCCD-BF335FD5300D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11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F1650D-DE90-01C2-19BB-F9071CF06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4AA1A1-5EDE-2848-B480-5E7DD8740898}"/>
              </a:ext>
            </a:extLst>
          </p:cNvPr>
          <p:cNvSpPr txBox="1"/>
          <p:nvPr/>
        </p:nvSpPr>
        <p:spPr>
          <a:xfrm>
            <a:off x="3671887" y="508000"/>
            <a:ext cx="48482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Рабочий прототип 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476C885-B764-D991-C004-C37257A49803}"/>
              </a:ext>
            </a:extLst>
          </p:cNvPr>
          <p:cNvSpPr/>
          <p:nvPr/>
        </p:nvSpPr>
        <p:spPr>
          <a:xfrm>
            <a:off x="8112720" y="2129790"/>
            <a:ext cx="3745319" cy="409342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67D77D-085E-7C88-8D5E-8C8244F41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26061"/>
            <a:ext cx="3137237" cy="36522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1613252-186C-FCA9-8DA7-2CEA581E1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833" y="1326061"/>
            <a:ext cx="3137238" cy="36522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A7F89D-DAE5-AD04-8B68-93741A636329}"/>
              </a:ext>
            </a:extLst>
          </p:cNvPr>
          <p:cNvSpPr txBox="1"/>
          <p:nvPr/>
        </p:nvSpPr>
        <p:spPr>
          <a:xfrm>
            <a:off x="8273085" y="2307590"/>
            <a:ext cx="34245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Настройка шаблонов: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Загрузка шаблона отчёта в формате DOCX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 шаблона для контекста нейросети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Кнопка «Загрузить шаблон» </a:t>
            </a:r>
          </a:p>
          <a:p>
            <a:pPr algn="just"/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Выбор готового шаблона из списка. </a:t>
            </a:r>
          </a:p>
          <a:p>
            <a:pPr algn="just"/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Кнопка «Сформировать отчёт» - нейросеть заполняет шаблон</a:t>
            </a:r>
          </a:p>
          <a:p>
            <a:pPr algn="just"/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Автоматическое скачивание готового отчёта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8B31FE-947B-2EFC-3A14-3526AA144446}"/>
              </a:ext>
            </a:extLst>
          </p:cNvPr>
          <p:cNvSpPr txBox="1"/>
          <p:nvPr/>
        </p:nvSpPr>
        <p:spPr>
          <a:xfrm>
            <a:off x="9651198" y="1666834"/>
            <a:ext cx="762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F1B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</a:t>
            </a:r>
            <a:endParaRPr lang="ru-RU" sz="20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4243E75-EEDB-8398-1684-057250AA5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192" y="3152182"/>
            <a:ext cx="2920260" cy="34906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8337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0C26-015B-3B63-EA61-A81D58BF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A0715A-25D7-823F-5A14-6DD5C14DCC5F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 dirty="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A4ECE-62D7-95A6-5406-DEB6CD14C0B0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12 / 13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12D481-273A-208C-64A3-EFF7D5860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582400" y="419100"/>
            <a:ext cx="376859" cy="351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773B78-108B-13F7-4EB9-414378161E4A}"/>
              </a:ext>
            </a:extLst>
          </p:cNvPr>
          <p:cNvSpPr txBox="1"/>
          <p:nvPr/>
        </p:nvSpPr>
        <p:spPr>
          <a:xfrm>
            <a:off x="3690175" y="508508"/>
            <a:ext cx="48116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&lt; </a:t>
            </a:r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Развитие проекта</a:t>
            </a:r>
            <a:r>
              <a:rPr lang="en-US" sz="3000" dirty="0">
                <a:solidFill>
                  <a:srgbClr val="0F1B3D"/>
                </a:solidFill>
                <a:latin typeface="Arial Black" panose="020B0A04020102020204" pitchFamily="34" charset="0"/>
              </a:rPr>
              <a:t> &gt;</a:t>
            </a:r>
            <a:endParaRPr lang="ru-RU" sz="3000" dirty="0">
              <a:solidFill>
                <a:srgbClr val="0F1B3D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71F8C0B-613B-3654-5871-3BE7D695A154}"/>
              </a:ext>
            </a:extLst>
          </p:cNvPr>
          <p:cNvCxnSpPr/>
          <p:nvPr/>
        </p:nvCxnSpPr>
        <p:spPr>
          <a:xfrm>
            <a:off x="1071880" y="1822704"/>
            <a:ext cx="10414000" cy="0"/>
          </a:xfrm>
          <a:prstGeom prst="line">
            <a:avLst/>
          </a:prstGeom>
          <a:ln w="25400">
            <a:solidFill>
              <a:srgbClr val="DC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9373E89A-D680-286C-CE1A-0BAF48E17219}"/>
              </a:ext>
            </a:extLst>
          </p:cNvPr>
          <p:cNvSpPr/>
          <p:nvPr/>
        </p:nvSpPr>
        <p:spPr>
          <a:xfrm>
            <a:off x="1046480" y="1695704"/>
            <a:ext cx="254000" cy="254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72FA10E-9F40-1719-1A12-850C94EB876E}"/>
              </a:ext>
            </a:extLst>
          </p:cNvPr>
          <p:cNvSpPr/>
          <p:nvPr/>
        </p:nvSpPr>
        <p:spPr>
          <a:xfrm>
            <a:off x="4771390" y="1695704"/>
            <a:ext cx="254000" cy="254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368075BF-B174-8EC1-55C1-8A66A9851508}"/>
              </a:ext>
            </a:extLst>
          </p:cNvPr>
          <p:cNvSpPr/>
          <p:nvPr/>
        </p:nvSpPr>
        <p:spPr>
          <a:xfrm>
            <a:off x="8496300" y="1695704"/>
            <a:ext cx="254000" cy="254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E137FA6-A8AB-01EA-25D4-BA68B59CA738}"/>
              </a:ext>
            </a:extLst>
          </p:cNvPr>
          <p:cNvSpPr/>
          <p:nvPr/>
        </p:nvSpPr>
        <p:spPr>
          <a:xfrm>
            <a:off x="60960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3A18F-8C3B-D34D-2924-8581F65007A3}"/>
              </a:ext>
            </a:extLst>
          </p:cNvPr>
          <p:cNvSpPr txBox="1"/>
          <p:nvPr/>
        </p:nvSpPr>
        <p:spPr>
          <a:xfrm>
            <a:off x="88900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 dirty="0">
                <a:solidFill>
                  <a:srgbClr val="0F1B3D"/>
                </a:solidFill>
                <a:latin typeface="Arial" panose="020B0604020202020204" pitchFamily="34" charset="0"/>
              </a:rPr>
              <a:t>01 · ХАКАТОН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2B90D3-5C13-3DAF-BD9B-82E907A7F935}"/>
              </a:ext>
            </a:extLst>
          </p:cNvPr>
          <p:cNvSpPr txBox="1"/>
          <p:nvPr/>
        </p:nvSpPr>
        <p:spPr>
          <a:xfrm>
            <a:off x="88900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F1B3D"/>
                </a:solidFill>
                <a:latin typeface="Arial" panose="020B0604020202020204" pitchFamily="34" charset="0"/>
              </a:rPr>
              <a:t>[MVP]</a:t>
            </a:r>
            <a:endParaRPr lang="ru-RU" b="1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03D49-BF22-3A07-45C8-3DEED3F9576B}"/>
              </a:ext>
            </a:extLst>
          </p:cNvPr>
          <p:cNvSpPr txBox="1"/>
          <p:nvPr/>
        </p:nvSpPr>
        <p:spPr>
          <a:xfrm>
            <a:off x="889000" y="35814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[ Работающий прототип приложения, которое принимает аудио и формирует структурированный заказ ]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8EEDCABA-E3DF-026D-7216-A754BAF62006}"/>
              </a:ext>
            </a:extLst>
          </p:cNvPr>
          <p:cNvSpPr/>
          <p:nvPr/>
        </p:nvSpPr>
        <p:spPr>
          <a:xfrm>
            <a:off x="433451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8F511F-608D-99BB-6E1B-60EAA5AD4A8B}"/>
              </a:ext>
            </a:extLst>
          </p:cNvPr>
          <p:cNvSpPr txBox="1"/>
          <p:nvPr/>
        </p:nvSpPr>
        <p:spPr>
          <a:xfrm>
            <a:off x="461391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 dirty="0">
                <a:solidFill>
                  <a:srgbClr val="0F1B3D"/>
                </a:solidFill>
                <a:latin typeface="Arial" panose="020B0604020202020204" pitchFamily="34" charset="0"/>
              </a:rPr>
              <a:t>02 · БЛИЖАЙШИЙ ЭТАП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F6C7EE-0631-C466-6491-3CDB0C6EA4D7}"/>
              </a:ext>
            </a:extLst>
          </p:cNvPr>
          <p:cNvSpPr txBox="1"/>
          <p:nvPr/>
        </p:nvSpPr>
        <p:spPr>
          <a:xfrm>
            <a:off x="461391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 dirty="0">
                <a:solidFill>
                  <a:srgbClr val="0F1B3D"/>
                </a:solidFill>
                <a:latin typeface="Arial" panose="020B0604020202020204" pitchFamily="34" charset="0"/>
              </a:rPr>
              <a:t>[Что добавим / проверим]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1B679174-082A-7D02-B04A-6E2260A620E5}"/>
              </a:ext>
            </a:extLst>
          </p:cNvPr>
          <p:cNvSpPr/>
          <p:nvPr/>
        </p:nvSpPr>
        <p:spPr>
          <a:xfrm>
            <a:off x="805942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A23E45-D06D-BC56-E8EC-278F1E4CBCA2}"/>
              </a:ext>
            </a:extLst>
          </p:cNvPr>
          <p:cNvSpPr txBox="1"/>
          <p:nvPr/>
        </p:nvSpPr>
        <p:spPr>
          <a:xfrm>
            <a:off x="833882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 dirty="0">
                <a:solidFill>
                  <a:srgbClr val="0F1B3D"/>
                </a:solidFill>
                <a:latin typeface="Arial" panose="020B0604020202020204" pitchFamily="34" charset="0"/>
              </a:rPr>
              <a:t>03 · ДАЛЬШЕ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1A1A4D-C0F9-BC87-DCCB-C7FB86A03BEE}"/>
              </a:ext>
            </a:extLst>
          </p:cNvPr>
          <p:cNvSpPr txBox="1"/>
          <p:nvPr/>
        </p:nvSpPr>
        <p:spPr>
          <a:xfrm>
            <a:off x="833882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0F1B3D"/>
                </a:solidFill>
                <a:latin typeface="Arial" panose="020B0604020202020204" pitchFamily="34" charset="0"/>
              </a:rPr>
              <a:t>[Масштабирование]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C9C4C9-52A7-3CF9-EE1C-5E66BAB6666E}"/>
              </a:ext>
            </a:extLst>
          </p:cNvPr>
          <p:cNvSpPr txBox="1"/>
          <p:nvPr/>
        </p:nvSpPr>
        <p:spPr>
          <a:xfrm>
            <a:off x="4613910" y="35814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[ Улучшить то, что уже есть: сделать интерфейс удобнее и понятнее, повысить точность распознавания 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A85320-4F29-B052-BAC7-F2215C83D244}"/>
              </a:ext>
            </a:extLst>
          </p:cNvPr>
          <p:cNvSpPr txBox="1"/>
          <p:nvPr/>
        </p:nvSpPr>
        <p:spPr>
          <a:xfrm>
            <a:off x="8338820" y="35814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[ Расширение шаблонов заказов под разные отрасли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.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Интеграция с CRM (1С, Bitrix24, </a:t>
            </a:r>
            <a:r>
              <a:rPr lang="ru-RU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amoCRM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). ]</a:t>
            </a:r>
          </a:p>
        </p:txBody>
      </p:sp>
    </p:spTree>
    <p:extLst>
      <p:ext uri="{BB962C8B-B14F-4D97-AF65-F5344CB8AC3E}">
        <p14:creationId xmlns:p14="http://schemas.microsoft.com/office/powerpoint/2010/main" val="1699055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ackground">
            <a:extLst>
              <a:ext uri="{FF2B5EF4-FFF2-40B4-BE49-F238E27FC236}">
                <a16:creationId xmlns:a16="http://schemas.microsoft.com/office/drawing/2014/main" id="{0A4A2BD5-5003-2415-8837-96BA976465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shade val="30000"/>
                  <a:satMod val="115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B3B56-ACC5-250E-53C8-EF40C631D832}"/>
              </a:ext>
            </a:extLst>
          </p:cNvPr>
          <p:cNvSpPr txBox="1"/>
          <p:nvPr/>
        </p:nvSpPr>
        <p:spPr>
          <a:xfrm>
            <a:off x="11498598" y="417392"/>
            <a:ext cx="574003" cy="14859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13 / 13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5842-5EDC-F00F-6188-651F6D1A8930}"/>
              </a:ext>
            </a:extLst>
          </p:cNvPr>
          <p:cNvSpPr txBox="1"/>
          <p:nvPr/>
        </p:nvSpPr>
        <p:spPr>
          <a:xfrm>
            <a:off x="609600" y="2386330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000" dirty="0">
                <a:solidFill>
                  <a:srgbClr val="FFFFFF"/>
                </a:solidFill>
                <a:latin typeface="Arial Black" panose="020B0A04020102020204" pitchFamily="34" charset="0"/>
              </a:rPr>
              <a:t>Спасибо за внимание!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F9A288-DB04-463F-F2D7-B15A66481E01}"/>
              </a:ext>
            </a:extLst>
          </p:cNvPr>
          <p:cNvSpPr txBox="1"/>
          <p:nvPr/>
        </p:nvSpPr>
        <p:spPr>
          <a:xfrm>
            <a:off x="609600" y="3130550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dirty="0">
                <a:solidFill>
                  <a:srgbClr val="FFFFFF"/>
                </a:solidFill>
                <a:latin typeface="Arial" panose="020B0604020202020204" pitchFamily="34" charset="0"/>
              </a:rPr>
              <a:t>Готовы показать продукт и ответить на вопросы.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004FAB5-B452-217D-65A2-5CDED39F0974}"/>
              </a:ext>
            </a:extLst>
          </p:cNvPr>
          <p:cNvCxnSpPr/>
          <p:nvPr/>
        </p:nvCxnSpPr>
        <p:spPr>
          <a:xfrm>
            <a:off x="609600" y="53340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22B931-FFB3-186E-74FF-087D071A117C}"/>
              </a:ext>
            </a:extLst>
          </p:cNvPr>
          <p:cNvSpPr txBox="1"/>
          <p:nvPr/>
        </p:nvSpPr>
        <p:spPr>
          <a:xfrm>
            <a:off x="609600" y="5569204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GITHUB</a:t>
            </a:r>
            <a:endParaRPr lang="ru-RU" sz="900" b="1" spc="15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33332-9C32-FF39-8B48-B5284EDC9AAE}"/>
              </a:ext>
            </a:extLst>
          </p:cNvPr>
          <p:cNvSpPr txBox="1"/>
          <p:nvPr/>
        </p:nvSpPr>
        <p:spPr>
          <a:xfrm>
            <a:off x="609600" y="5835904"/>
            <a:ext cx="4593336" cy="3413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[</a:t>
            </a: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https://github.com/D4rkButterfly/XAXAXAXXAton</a:t>
            </a:r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C234E-D325-A7F5-C621-48006AF317B4}"/>
              </a:ext>
            </a:extLst>
          </p:cNvPr>
          <p:cNvSpPr txBox="1"/>
          <p:nvPr/>
        </p:nvSpPr>
        <p:spPr>
          <a:xfrm>
            <a:off x="5763768" y="5609336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КОНТАКТ КАПИТАНА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660A35-FF16-5CE1-0A9A-8888FE31EEB4}"/>
              </a:ext>
            </a:extLst>
          </p:cNvPr>
          <p:cNvSpPr txBox="1"/>
          <p:nvPr/>
        </p:nvSpPr>
        <p:spPr>
          <a:xfrm>
            <a:off x="5763768" y="5837936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[</a:t>
            </a: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@tixpoo]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A8F26D-5073-2CB1-A055-7C11DCEBA763}"/>
              </a:ext>
            </a:extLst>
          </p:cNvPr>
          <p:cNvSpPr txBox="1"/>
          <p:nvPr/>
        </p:nvSpPr>
        <p:spPr>
          <a:xfrm>
            <a:off x="8229599" y="5569204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DA0842-E91F-4FAA-A543-BAA6D618D86B}"/>
              </a:ext>
            </a:extLst>
          </p:cNvPr>
          <p:cNvSpPr txBox="1"/>
          <p:nvPr/>
        </p:nvSpPr>
        <p:spPr>
          <a:xfrm>
            <a:off x="8229599" y="5835904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[Рыбка в мышке]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A2864A-8291-0FCD-87F7-6AD29F689E90}"/>
              </a:ext>
            </a:extLst>
          </p:cNvPr>
          <p:cNvSpPr txBox="1"/>
          <p:nvPr/>
        </p:nvSpPr>
        <p:spPr>
          <a:xfrm>
            <a:off x="609600" y="63500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«Пятый элемент» 2026 · 26–27 сентября · СФУ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1040246-9F45-5F25-1BED-63715E06D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408" y="104183"/>
            <a:ext cx="8867183" cy="923599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E839D29A-EB75-0E6E-EC2D-8EAE190C0B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8122" r="26134" b="13758"/>
          <a:stretch>
            <a:fillRect/>
          </a:stretch>
        </p:blipFill>
        <p:spPr>
          <a:xfrm>
            <a:off x="11111012" y="492356"/>
            <a:ext cx="574003" cy="53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703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880</Words>
  <Application>Microsoft Office PowerPoint</Application>
  <PresentationFormat>Широкоэкранный</PresentationFormat>
  <Paragraphs>142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Plus Jakarta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tixpoo .</dc:creator>
  <cp:lastModifiedBy>Ilya Kuksenko</cp:lastModifiedBy>
  <cp:revision>21</cp:revision>
  <dcterms:created xsi:type="dcterms:W3CDTF">2026-09-26T15:09:00Z</dcterms:created>
  <dcterms:modified xsi:type="dcterms:W3CDTF">2026-09-27T03:38:24Z</dcterms:modified>
</cp:coreProperties>
</file>